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86" r:id="rId7"/>
    <p:sldId id="258" r:id="rId8"/>
    <p:sldId id="281" r:id="rId9"/>
    <p:sldId id="278" r:id="rId10"/>
    <p:sldId id="282" r:id="rId11"/>
    <p:sldId id="280" r:id="rId12"/>
    <p:sldId id="266" r:id="rId13"/>
    <p:sldId id="283" r:id="rId14"/>
    <p:sldId id="287" r:id="rId15"/>
    <p:sldId id="285" r:id="rId16"/>
    <p:sldId id="284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655" autoAdjust="0"/>
  </p:normalViewPr>
  <p:slideViewPr>
    <p:cSldViewPr snapToGrid="0">
      <p:cViewPr varScale="1">
        <p:scale>
          <a:sx n="106" d="100"/>
          <a:sy n="106" d="100"/>
        </p:scale>
        <p:origin x="732" y="10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12/20/2025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650BD-DD88-7CF1-705A-1E1BD5085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50910-2D28-ECB3-92B5-34EB55346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F82144-5694-122E-9939-6D7F78521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D66A9-E60B-AFD7-DE1D-B260CADED6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710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5226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6832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487CD-97C1-305F-2F22-5450F06C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19D48-5461-A3D2-23D2-A8615F9917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31E5E-5761-141D-DEA3-85F63D819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C469E-26D1-6D9A-DF0F-F5E812160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38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683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pPr algn="ctr"/>
            <a:r>
              <a:rPr lang="en-US" sz="4400" dirty="0"/>
              <a:t>prometheus and grafana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A5AB3-BF9F-F035-19C3-01A76CDC0E51}"/>
              </a:ext>
            </a:extLst>
          </p:cNvPr>
          <p:cNvSpPr txBox="1"/>
          <p:nvPr/>
        </p:nvSpPr>
        <p:spPr>
          <a:xfrm>
            <a:off x="6998328" y="5758066"/>
            <a:ext cx="40468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Mohamed Islam </a:t>
            </a:r>
            <a:br>
              <a:rPr lang="en-US" i="1" dirty="0"/>
            </a:br>
            <a:endParaRPr lang="en-US" i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3446730" cy="3269589"/>
          </a:xfrm>
        </p:spPr>
        <p:txBody>
          <a:bodyPr>
            <a:normAutofit/>
          </a:bodyPr>
          <a:lstStyle/>
          <a:p>
            <a:r>
              <a:rPr lang="en-US" dirty="0"/>
              <a:t>1 - Introduction</a:t>
            </a:r>
          </a:p>
          <a:p>
            <a:r>
              <a:rPr lang="en-US" dirty="0"/>
              <a:t>2 - Prometheus </a:t>
            </a:r>
          </a:p>
          <a:p>
            <a:r>
              <a:rPr lang="en-US" dirty="0"/>
              <a:t>3 - Grafana</a:t>
            </a:r>
          </a:p>
          <a:p>
            <a:r>
              <a:rPr lang="en-US" dirty="0"/>
              <a:t>4 - How They Work Together</a:t>
            </a:r>
          </a:p>
          <a:p>
            <a:r>
              <a:rPr lang="en-US" dirty="0"/>
              <a:t>5 - Real World Example</a:t>
            </a:r>
          </a:p>
          <a:p>
            <a:r>
              <a:rPr lang="en-US" dirty="0"/>
              <a:t>6 - Summary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BAB42-F748-6620-7329-4483EF2B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2DA30-A36C-3FF9-D1B4-4794C0276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355" y="-455187"/>
            <a:ext cx="9953308" cy="1780860"/>
          </a:xfrm>
        </p:spPr>
        <p:txBody>
          <a:bodyPr>
            <a:normAutofit/>
          </a:bodyPr>
          <a:lstStyle/>
          <a:p>
            <a:r>
              <a:rPr lang="en-US" sz="3600" dirty="0"/>
              <a:t>Introduction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0F091C-6E26-3750-1E74-1223862E0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0049" y="2659849"/>
            <a:ext cx="11031951" cy="769151"/>
          </a:xfrm>
        </p:spPr>
        <p:txBody>
          <a:bodyPr>
            <a:noAutofit/>
          </a:bodyPr>
          <a:lstStyle/>
          <a:p>
            <a:r>
              <a:rPr lang="en-US" sz="2800" dirty="0"/>
              <a:t>The Concept: </a:t>
            </a:r>
            <a:r>
              <a:rPr lang="en-US" sz="2800" b="0" dirty="0"/>
              <a:t>Monitoring a complex app is like monitoring a patient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C6A2003-895C-616F-B992-F8F667808C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86DBF493-F9A5-F12A-68A0-F9D06F361286}"/>
              </a:ext>
            </a:extLst>
          </p:cNvPr>
          <p:cNvSpPr>
            <a:spLocks noGrp="1" noChangeArrowheads="1"/>
          </p:cNvSpPr>
          <p:nvPr>
            <p:ph sz="half" idx="15"/>
          </p:nvPr>
        </p:nvSpPr>
        <p:spPr bwMode="auto">
          <a:xfrm>
            <a:off x="1160049" y="3256587"/>
            <a:ext cx="2549604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Patient: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Your Website or Application.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Medical Monitor (Prometheus):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stays connected to the patient,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constantly "pulling" vital signs like heart rate (CPU usage), blood pressure (Memory).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Doctor’s Dashboard (Grafana):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big screen at the nurse's station.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doesn't collect the data itself; it just displays the Prometheus data in a way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 allows a doctor to spot a "heart attack“(system crash) before it happens.</a:t>
            </a:r>
          </a:p>
        </p:txBody>
      </p:sp>
    </p:spTree>
    <p:extLst>
      <p:ext uri="{BB962C8B-B14F-4D97-AF65-F5344CB8AC3E}">
        <p14:creationId xmlns:p14="http://schemas.microsoft.com/office/powerpoint/2010/main" val="263792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268360"/>
            <a:ext cx="7288282" cy="2121177"/>
          </a:xfrm>
        </p:spPr>
        <p:txBody>
          <a:bodyPr/>
          <a:lstStyle/>
          <a:p>
            <a:r>
              <a:rPr lang="en-US" b="1" dirty="0"/>
              <a:t>Prometheus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7" y="2763078"/>
            <a:ext cx="7776345" cy="3407051"/>
          </a:xfrm>
        </p:spPr>
        <p:txBody>
          <a:bodyPr>
            <a:normAutofit/>
          </a:bodyPr>
          <a:lstStyle/>
          <a:p>
            <a:r>
              <a:rPr lang="en-US" dirty="0"/>
              <a:t>The Brain and the Database</a:t>
            </a:r>
          </a:p>
          <a:p>
            <a:pPr lvl="1"/>
            <a:r>
              <a:rPr lang="en-US" b="1" dirty="0"/>
              <a:t>Key Function:</a:t>
            </a:r>
            <a:r>
              <a:rPr lang="en-US" dirty="0"/>
              <a:t> It is a </a:t>
            </a:r>
            <a:r>
              <a:rPr lang="en-US" b="1" dirty="0"/>
              <a:t>Time-Series Database</a:t>
            </a:r>
            <a:r>
              <a:rPr lang="en-US" dirty="0"/>
              <a:t>. It stores data points indexed by time.</a:t>
            </a:r>
          </a:p>
          <a:p>
            <a:pPr lvl="1"/>
            <a:r>
              <a:rPr lang="en-US" b="1" dirty="0"/>
              <a:t>The "Pull" Model:</a:t>
            </a:r>
            <a:r>
              <a:rPr lang="en-US" dirty="0"/>
              <a:t> Unlike other tools, Prometheus goes out and "scrapes" (asks for) data from your apps at set intervals (e.g., every 15 seconds).</a:t>
            </a:r>
          </a:p>
          <a:p>
            <a:pPr lvl="1"/>
            <a:r>
              <a:rPr lang="en-US" b="1" dirty="0" err="1"/>
              <a:t>PromQL</a:t>
            </a:r>
            <a:r>
              <a:rPr lang="en-US" b="1" dirty="0"/>
              <a:t>:</a:t>
            </a:r>
            <a:r>
              <a:rPr lang="en-US" dirty="0"/>
              <a:t> Its own "Query Language" used to calculate things like "What was the 95th percentile of response time over the last 5 minutes?"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126" name="Picture 6">
            <a:extLst>
              <a:ext uri="{FF2B5EF4-FFF2-40B4-BE49-F238E27FC236}">
                <a16:creationId xmlns:a16="http://schemas.microsoft.com/office/drawing/2014/main" id="{5C7C4306-AD7C-517E-5108-B0D414B3CC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591" y="1863303"/>
            <a:ext cx="526234" cy="526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b="1" dirty="0"/>
              <a:t>Grafana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/>
          <a:lstStyle/>
          <a:p>
            <a:r>
              <a:rPr lang="en-US" dirty="0"/>
              <a:t>The Face of the Operation.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8989714" cy="3234264"/>
          </a:xfrm>
        </p:spPr>
        <p:txBody>
          <a:bodyPr>
            <a:normAutofit/>
          </a:bodyPr>
          <a:lstStyle/>
          <a:p>
            <a:pPr lvl="1"/>
            <a:r>
              <a:rPr lang="en-US" b="1" dirty="0"/>
              <a:t>Key Function:</a:t>
            </a:r>
            <a:r>
              <a:rPr lang="en-US" dirty="0"/>
              <a:t> A visualization engine that connects to almost any data source (Prometheus, MySQL, </a:t>
            </a:r>
            <a:r>
              <a:rPr lang="en-US" dirty="0" err="1"/>
              <a:t>ElasticSearch</a:t>
            </a:r>
            <a:r>
              <a:rPr lang="en-US" dirty="0"/>
              <a:t>).</a:t>
            </a:r>
          </a:p>
          <a:p>
            <a:pPr lvl="1"/>
            <a:r>
              <a:rPr lang="en-US" b="1" dirty="0"/>
              <a:t>Interactive:</a:t>
            </a:r>
            <a:r>
              <a:rPr lang="en-US" dirty="0"/>
              <a:t> You don't just look at a static image; you can zoom into specific time ranges, filter by server name, and set visual thresholds (e.g., turn a graph red if CPU &gt; 90%).</a:t>
            </a:r>
          </a:p>
          <a:p>
            <a:pPr lvl="1"/>
            <a:r>
              <a:rPr lang="en-US" b="1" dirty="0"/>
              <a:t>Alerting:</a:t>
            </a:r>
            <a:r>
              <a:rPr lang="en-US" dirty="0"/>
              <a:t> While Prometheus detects the problem, Grafana can send a sleek notification to Slack or Email with a picture of the failing graph.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D0DF6C6-30E9-795E-71A5-34C23E9F2C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435" y="1825645"/>
            <a:ext cx="524176" cy="52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DBD1-DB29-D44F-FD5A-3071BB37EF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87018"/>
            <a:ext cx="4179570" cy="3377354"/>
          </a:xfrm>
        </p:spPr>
        <p:txBody>
          <a:bodyPr/>
          <a:lstStyle/>
          <a:p>
            <a:r>
              <a:rPr lang="en-US" b="1" dirty="0"/>
              <a:t>How They Work Together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796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D9B3-B64F-656A-0D99-161A6C0F5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b="1" dirty="0"/>
              <a:t>How They Connect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E5B6E40-3A7D-ACF7-AA38-25977D322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2960877"/>
            <a:ext cx="2722880" cy="351284"/>
          </a:xfrm>
        </p:spPr>
        <p:txBody>
          <a:bodyPr/>
          <a:lstStyle/>
          <a:p>
            <a:r>
              <a:rPr lang="en-US" dirty="0"/>
              <a:t>The Workflow: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71298F0-74F1-FECA-0F02-495F9A2EBA7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8454730" cy="2907164"/>
          </a:xfrm>
        </p:spPr>
        <p:txBody>
          <a:bodyPr>
            <a:normAutofit/>
          </a:bodyPr>
          <a:lstStyle/>
          <a:p>
            <a:r>
              <a:rPr lang="en-US" b="1" dirty="0"/>
              <a:t>Exporters:</a:t>
            </a:r>
            <a:r>
              <a:rPr lang="en-US" dirty="0"/>
              <a:t> A small "agent" (like </a:t>
            </a:r>
            <a:r>
              <a:rPr lang="en-US" b="1" dirty="0"/>
              <a:t>Node Exporter</a:t>
            </a:r>
            <a:r>
              <a:rPr lang="en-US" dirty="0"/>
              <a:t>) runs on your server to expose metrics at a URL.</a:t>
            </a:r>
          </a:p>
          <a:p>
            <a:r>
              <a:rPr lang="en-US" b="1" dirty="0"/>
              <a:t>Prometheus:</a:t>
            </a:r>
            <a:r>
              <a:rPr lang="en-US" dirty="0"/>
              <a:t> Regularly visits that URL, grabs the numbers, and saves them.</a:t>
            </a:r>
          </a:p>
          <a:p>
            <a:r>
              <a:rPr lang="en-US" b="1" dirty="0"/>
              <a:t>Grafana:</a:t>
            </a:r>
            <a:r>
              <a:rPr lang="en-US" dirty="0"/>
              <a:t> Connects to Prometheus as a "Data Source." You build a graph by writing a small piece of code (</a:t>
            </a:r>
            <a:r>
              <a:rPr lang="en-US" dirty="0" err="1"/>
              <a:t>PromQL</a:t>
            </a:r>
            <a:r>
              <a:rPr lang="en-US" dirty="0"/>
              <a:t>).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3112317" cy="3522804"/>
          </a:xfrm>
        </p:spPr>
        <p:txBody>
          <a:bodyPr/>
          <a:lstStyle/>
          <a:p>
            <a:r>
              <a:rPr lang="en-US" sz="4000" dirty="0"/>
              <a:t>Real World Example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8FC28-E0BD-4387-B8BE-9965D1A57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9415" y="876300"/>
            <a:ext cx="5884027" cy="1204912"/>
          </a:xfrm>
        </p:spPr>
        <p:txBody>
          <a:bodyPr/>
          <a:lstStyle/>
          <a:p>
            <a:r>
              <a:rPr lang="en-US" dirty="0"/>
              <a:t>Website Monitoring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8313-9270-4128-8674-3A3E42B80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19BCA-B61F-4EA6-A1FB-CCA3BD8506F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479415" y="2957512"/>
            <a:ext cx="5907176" cy="3763962"/>
          </a:xfrm>
        </p:spPr>
        <p:txBody>
          <a:bodyPr>
            <a:noAutofit/>
          </a:bodyPr>
          <a:lstStyle/>
          <a:p>
            <a:r>
              <a:rPr lang="en-US" b="1" dirty="0"/>
              <a:t>The Goal:</a:t>
            </a:r>
            <a:r>
              <a:rPr lang="en-US" dirty="0"/>
              <a:t> Proactively monitor our public websites to ensure they are fast, secure, and reachable.</a:t>
            </a:r>
          </a:p>
          <a:p>
            <a:r>
              <a:rPr lang="en-US" b="1" dirty="0"/>
              <a:t>We monitor:</a:t>
            </a:r>
          </a:p>
          <a:p>
            <a:r>
              <a:rPr lang="en-US" sz="1600" b="1" dirty="0"/>
              <a:t>-Connectivity:</a:t>
            </a:r>
            <a:r>
              <a:rPr lang="en-US" sz="1600" dirty="0"/>
              <a:t> Ping and DNS lookup times.</a:t>
            </a:r>
          </a:p>
          <a:p>
            <a:r>
              <a:rPr lang="en-US" sz="1600" b="1" dirty="0"/>
              <a:t>-Security:</a:t>
            </a:r>
            <a:r>
              <a:rPr lang="en-US" sz="1600" dirty="0"/>
              <a:t> TLS/SSL version and </a:t>
            </a:r>
            <a:r>
              <a:rPr lang="en-US" sz="1600" b="1" dirty="0"/>
              <a:t>Certificate Validity</a:t>
            </a:r>
            <a:r>
              <a:rPr lang="en-US" sz="1600" dirty="0"/>
              <a:t> (Don't let your HTTPS expire).</a:t>
            </a:r>
          </a:p>
          <a:p>
            <a:r>
              <a:rPr lang="en-US" sz="1600" b="1" dirty="0"/>
              <a:t>-Performance:</a:t>
            </a:r>
            <a:r>
              <a:rPr lang="en-US" sz="1600" dirty="0"/>
              <a:t> Probe duration (How long the page takes to load) and HTTP Version.</a:t>
            </a:r>
          </a:p>
          <a:p>
            <a:r>
              <a:rPr lang="en-US" sz="1600" b="1" dirty="0"/>
              <a:t>-Reliability:</a:t>
            </a:r>
            <a:r>
              <a:rPr lang="en-US" sz="1600" dirty="0"/>
              <a:t> HTTP Status Codes (200 OK vs. 404/500 errors) and Redirects.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0" y="876300"/>
            <a:ext cx="5246255" cy="17098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861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21055C-5E33-5D21-2A6E-21827FA88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6" y="442677"/>
            <a:ext cx="3247662" cy="1917700"/>
          </a:xfrm>
        </p:spPr>
        <p:txBody>
          <a:bodyPr>
            <a:normAutofit/>
          </a:bodyPr>
          <a:lstStyle/>
          <a:p>
            <a:r>
              <a:rPr lang="en-US" dirty="0"/>
              <a:t>The "Global View" Dashboard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87B122-1579-FDB8-443B-F05E622163C3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199176" y="1834044"/>
            <a:ext cx="3886682" cy="4421901"/>
          </a:xfrm>
        </p:spPr>
        <p:txBody>
          <a:bodyPr>
            <a:normAutofit/>
          </a:bodyPr>
          <a:lstStyle/>
          <a:p>
            <a:r>
              <a:rPr lang="en-US" b="1" dirty="0"/>
              <a:t>The Executive Summary:</a:t>
            </a:r>
            <a:r>
              <a:rPr lang="en-US" dirty="0"/>
              <a:t> Instead of looking at 100 different sites, we use Grafana to aggregate the data into an "Overview" panel.</a:t>
            </a:r>
          </a:p>
          <a:p>
            <a:r>
              <a:rPr lang="en-US" b="1" dirty="0"/>
              <a:t>Total Targets: </a:t>
            </a:r>
            <a:r>
              <a:rPr lang="en-US" sz="1600" dirty="0"/>
              <a:t>showing how many sites we are monitoring.</a:t>
            </a:r>
          </a:p>
          <a:p>
            <a:r>
              <a:rPr lang="en-US" b="1" dirty="0"/>
              <a:t>Success Rate: </a:t>
            </a:r>
            <a:r>
              <a:rPr lang="en-US" sz="1600" dirty="0"/>
              <a:t>A big green gauge showing the </a:t>
            </a:r>
            <a:r>
              <a:rPr lang="en-US" sz="1600" b="1" dirty="0"/>
              <a:t>Percentage of HTTP 200</a:t>
            </a:r>
            <a:r>
              <a:rPr lang="en-US" sz="1600" dirty="0"/>
              <a:t> status codes.</a:t>
            </a:r>
          </a:p>
          <a:p>
            <a:r>
              <a:rPr lang="en-US" b="1" dirty="0"/>
              <a:t>Security Health: </a:t>
            </a:r>
            <a:r>
              <a:rPr lang="en-US" sz="1600" dirty="0"/>
              <a:t>Percentage of targets using valid SSL/TLS.</a:t>
            </a:r>
          </a:p>
          <a:p>
            <a:r>
              <a:rPr lang="en-US" b="1" dirty="0"/>
              <a:t>Uptime Trends: </a:t>
            </a:r>
            <a:r>
              <a:rPr lang="en-US" sz="1600" dirty="0"/>
              <a:t>showing availability over the last </a:t>
            </a:r>
            <a:r>
              <a:rPr lang="en-US" sz="1600" b="1" dirty="0"/>
              <a:t>24 hours, 3 days, and 7 days</a:t>
            </a:r>
            <a:r>
              <a:rPr lang="en-US" sz="1600" dirty="0"/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19658D-4437-8AF9-9EB8-90AEA6A5F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896" y="1834044"/>
            <a:ext cx="7954495" cy="451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24A3C-C01E-8114-73D7-CB9D3B189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1C3B2-C575-B51E-82D3-58B95241A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17" y="389299"/>
            <a:ext cx="9953308" cy="567696"/>
          </a:xfrm>
        </p:spPr>
        <p:txBody>
          <a:bodyPr/>
          <a:lstStyle/>
          <a:p>
            <a:r>
              <a:rPr lang="en-US" dirty="0"/>
              <a:t>The Power of </a:t>
            </a:r>
            <a:r>
              <a:rPr lang="en-US" dirty="0" err="1"/>
              <a:t>PromQL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19D82BB-1C6A-F609-20E7-D031DA6FC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0469" y="1380329"/>
            <a:ext cx="4019447" cy="56769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Result: Prometheus receives a list of numbers (metrics) like: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BDEE0BE4-DFC8-4BAF-B1FC-3A4CEF1A3DC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847644" y="2328634"/>
            <a:ext cx="3233797" cy="2804160"/>
          </a:xfrm>
        </p:spPr>
        <p:txBody>
          <a:bodyPr>
            <a:normAutofit/>
          </a:bodyPr>
          <a:lstStyle/>
          <a:p>
            <a:r>
              <a:rPr lang="en-US" dirty="0" err="1"/>
              <a:t>probe_success</a:t>
            </a:r>
            <a:r>
              <a:rPr lang="en-US" dirty="0"/>
              <a:t> 1(The site is up)</a:t>
            </a:r>
          </a:p>
          <a:p>
            <a:endParaRPr lang="en-US" dirty="0"/>
          </a:p>
          <a:p>
            <a:r>
              <a:rPr lang="en-US" dirty="0" err="1"/>
              <a:t>probe_http_status_code</a:t>
            </a:r>
            <a:r>
              <a:rPr lang="en-US" dirty="0"/>
              <a:t> 200</a:t>
            </a:r>
          </a:p>
          <a:p>
            <a:endParaRPr lang="en-US" dirty="0"/>
          </a:p>
          <a:p>
            <a:r>
              <a:rPr lang="en-US" dirty="0" err="1"/>
              <a:t>probe_duration_seconds</a:t>
            </a:r>
            <a:r>
              <a:rPr lang="en-US" dirty="0"/>
              <a:t> 0.15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E50F2D3-269F-CEE3-8E13-F36B7F07E7C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17217" y="1380329"/>
            <a:ext cx="5516880" cy="56769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make these dashboards work, we use </a:t>
            </a:r>
            <a:r>
              <a:rPr lang="en-US" dirty="0" err="1"/>
              <a:t>PromQL</a:t>
            </a:r>
            <a:r>
              <a:rPr lang="en-US" dirty="0"/>
              <a:t> (Prometheus Query Language)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414571D6-A6BC-4FDB-D6E0-C002AA26BF1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CAE6F4-80C3-D1EA-9DE7-8C22024EA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3733350"/>
              </p:ext>
            </p:extLst>
          </p:nvPr>
        </p:nvGraphicFramePr>
        <p:xfrm>
          <a:off x="617217" y="2380136"/>
          <a:ext cx="6236256" cy="2804160"/>
        </p:xfrm>
        <a:graphic>
          <a:graphicData uri="http://schemas.openxmlformats.org/drawingml/2006/table">
            <a:tbl>
              <a:tblPr/>
              <a:tblGrid>
                <a:gridCol w="2078752">
                  <a:extLst>
                    <a:ext uri="{9D8B030D-6E8A-4147-A177-3AD203B41FA5}">
                      <a16:colId xmlns:a16="http://schemas.microsoft.com/office/drawing/2014/main" val="2684066685"/>
                    </a:ext>
                  </a:extLst>
                </a:gridCol>
                <a:gridCol w="2078752">
                  <a:extLst>
                    <a:ext uri="{9D8B030D-6E8A-4147-A177-3AD203B41FA5}">
                      <a16:colId xmlns:a16="http://schemas.microsoft.com/office/drawing/2014/main" val="188581275"/>
                    </a:ext>
                  </a:extLst>
                </a:gridCol>
                <a:gridCol w="2078752">
                  <a:extLst>
                    <a:ext uri="{9D8B030D-6E8A-4147-A177-3AD203B41FA5}">
                      <a16:colId xmlns:a16="http://schemas.microsoft.com/office/drawing/2014/main" val="21382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Query Type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What it tells you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Business Value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9369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Predictive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Days until SSL expiration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Prevents "preventable" outages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197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Reactive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Lists non-200 status codes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Tells you exactly what to fix </a:t>
                      </a:r>
                      <a:r>
                        <a:rPr lang="en-US" i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now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453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Analytical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Overall Uptime %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Measures long-term reliability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886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56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3E5FEE2D-79E5-4C1D-8BF7-EE619CA70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0"/>
            <a:ext cx="10515600" cy="1325563"/>
          </a:xfrm>
        </p:spPr>
        <p:txBody>
          <a:bodyPr anchor="b"/>
          <a:lstStyle/>
          <a:p>
            <a:r>
              <a:rPr lang="en-US" dirty="0"/>
              <a:t>Technical Misc &amp; Testing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 descr="A screenshot of a computer screen">
            <a:extLst>
              <a:ext uri="{FF2B5EF4-FFF2-40B4-BE49-F238E27FC236}">
                <a16:creationId xmlns:a16="http://schemas.microsoft.com/office/drawing/2014/main" id="{6716130E-76A7-B8D4-D9D0-0214DB2CE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4154"/>
            <a:ext cx="12192000" cy="473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9140014-73D5-419B-8867-972BB18D5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184" y="244443"/>
            <a:ext cx="5655197" cy="1085681"/>
          </a:xfrm>
        </p:spPr>
        <p:txBody>
          <a:bodyPr anchor="b"/>
          <a:lstStyle/>
          <a:p>
            <a:r>
              <a:rPr lang="en-US" dirty="0"/>
              <a:t>Summary &amp; takeaways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33D8731E-4977-402E-8BFD-895B4D054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184" y="1950055"/>
            <a:ext cx="6449841" cy="4192721"/>
          </a:xfrm>
        </p:spPr>
        <p:txBody>
          <a:bodyPr>
            <a:noAutofit/>
          </a:bodyPr>
          <a:lstStyle/>
          <a:p>
            <a:r>
              <a:rPr lang="en-US" sz="2000" b="1" dirty="0"/>
              <a:t>Prometheus</a:t>
            </a:r>
            <a:r>
              <a:rPr lang="en-US" sz="2000" dirty="0"/>
              <a:t> is the "Back-end" (the brain that gathers and stores data).</a:t>
            </a:r>
          </a:p>
          <a:p>
            <a:r>
              <a:rPr lang="en-US" sz="2000" b="1" dirty="0"/>
              <a:t>Grafana</a:t>
            </a:r>
            <a:r>
              <a:rPr lang="en-US" sz="2000" dirty="0"/>
              <a:t> is the "Front-end" (the face that shows beautiful charts).</a:t>
            </a:r>
          </a:p>
          <a:p>
            <a:r>
              <a:rPr lang="en-US" sz="2000" b="1" dirty="0"/>
              <a:t>Together:</a:t>
            </a:r>
            <a:r>
              <a:rPr lang="en-US" sz="2000" dirty="0"/>
              <a:t> They turn raw, confusing numbers into actionable business decisions.</a:t>
            </a:r>
          </a:p>
          <a:p>
            <a:r>
              <a:rPr lang="en-US" sz="2000" dirty="0"/>
              <a:t>By combining </a:t>
            </a:r>
            <a:r>
              <a:rPr lang="en-US" sz="2000" b="1" dirty="0"/>
              <a:t>Prometheus</a:t>
            </a:r>
            <a:r>
              <a:rPr lang="en-US" sz="2000" dirty="0"/>
              <a:t> for data collection and </a:t>
            </a:r>
            <a:r>
              <a:rPr lang="en-US" sz="2000" b="1" dirty="0"/>
              <a:t>Grafana</a:t>
            </a:r>
            <a:r>
              <a:rPr lang="en-US" sz="2000" dirty="0"/>
              <a:t> for the dashboard, we don't just 'hope' our website is working. We have a 24/7 automated 'Pulse Check' that tells us exactly when a certificate is about to expire or when a page starts loading too slowly.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96FFDC-ADE8-4009-A466-A81787258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1EDE-5423-435C-B149-87AB1BC22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199" y="1615736"/>
            <a:ext cx="6117125" cy="2512644"/>
          </a:xfrm>
        </p:spPr>
        <p:txBody>
          <a:bodyPr/>
          <a:lstStyle/>
          <a:p>
            <a:r>
              <a:rPr lang="en-US" sz="6000" dirty="0"/>
              <a:t>THANK YOU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27D99-645F-4FCF-9573-FDFE2A344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787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1418</TotalTime>
  <Words>782</Words>
  <Application>Microsoft Office PowerPoint</Application>
  <PresentationFormat>Widescreen</PresentationFormat>
  <Paragraphs>101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Google Sans Text</vt:lpstr>
      <vt:lpstr>Tenorite</vt:lpstr>
      <vt:lpstr>Custom</vt:lpstr>
      <vt:lpstr>prometheus and grafana</vt:lpstr>
      <vt:lpstr>AGENDA</vt:lpstr>
      <vt:lpstr>Introduction</vt:lpstr>
      <vt:lpstr>Prometheus</vt:lpstr>
      <vt:lpstr>Grafana</vt:lpstr>
      <vt:lpstr>How They Work Together</vt:lpstr>
      <vt:lpstr>How They Connect</vt:lpstr>
      <vt:lpstr>Real World Example</vt:lpstr>
      <vt:lpstr>Website Monitoring</vt:lpstr>
      <vt:lpstr>The "Global View" Dashboard</vt:lpstr>
      <vt:lpstr>The Power of PromQL</vt:lpstr>
      <vt:lpstr>Technical Misc &amp; Testing</vt:lpstr>
      <vt:lpstr>Summary &amp;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Islam Khaled 20220282</dc:creator>
  <cp:lastModifiedBy>Mohamed Islam Khaled 20220282</cp:lastModifiedBy>
  <cp:revision>3</cp:revision>
  <dcterms:created xsi:type="dcterms:W3CDTF">2025-12-18T18:12:27Z</dcterms:created>
  <dcterms:modified xsi:type="dcterms:W3CDTF">2025-12-20T15:30:56Z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